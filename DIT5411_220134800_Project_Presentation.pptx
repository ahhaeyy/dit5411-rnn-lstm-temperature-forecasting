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84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hhaeyy/DIT5411-RNN-LSTM-Temperature-Forecasti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3930" y="1050595"/>
            <a:ext cx="6056111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DIT5411 Machine Learning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3930" y="2969469"/>
            <a:ext cx="7120815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100" dirty="0">
                <a:solidFill>
                  <a:schemeClr val="tx1"/>
                </a:solidFill>
              </a:rPr>
              <a:t>Forecasting Hong Kong Daily Grass Minimum Temperature</a:t>
            </a:r>
          </a:p>
          <a:p>
            <a:pPr algn="l" defTabSz="914400">
              <a:lnSpc>
                <a:spcPct val="90000"/>
              </a:lnSpc>
            </a:pPr>
            <a:r>
              <a:rPr lang="en-US" sz="2100" dirty="0">
                <a:solidFill>
                  <a:schemeClr val="tx1"/>
                </a:solidFill>
              </a:rPr>
              <a:t>Using RNN, LSTM, and </a:t>
            </a:r>
            <a:r>
              <a:rPr lang="en-US" sz="2100" dirty="0" err="1">
                <a:solidFill>
                  <a:schemeClr val="tx1"/>
                </a:solidFill>
              </a:rPr>
              <a:t>BiLSTM</a:t>
            </a:r>
            <a:endParaRPr lang="en-US" sz="2100" dirty="0">
              <a:solidFill>
                <a:schemeClr val="tx1"/>
              </a:solidFill>
            </a:endParaRPr>
          </a:p>
          <a:p>
            <a:pPr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2100" dirty="0">
              <a:solidFill>
                <a:schemeClr val="tx1"/>
              </a:solidFill>
            </a:endParaRPr>
          </a:p>
          <a:p>
            <a:pPr algn="l" defTabSz="914400">
              <a:lnSpc>
                <a:spcPct val="90000"/>
              </a:lnSpc>
            </a:pPr>
            <a:endParaRPr lang="en-US" sz="2100" dirty="0">
              <a:solidFill>
                <a:schemeClr val="tx1"/>
              </a:solidFill>
            </a:endParaRPr>
          </a:p>
          <a:p>
            <a:pPr algn="l" defTabSz="914400">
              <a:lnSpc>
                <a:spcPct val="90000"/>
              </a:lnSpc>
            </a:pPr>
            <a:r>
              <a:rPr lang="en-US" sz="2100" dirty="0">
                <a:solidFill>
                  <a:schemeClr val="tx1"/>
                </a:solidFill>
              </a:rPr>
              <a:t>Fok Tsz Ching 220134800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216597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613954"/>
            <a:ext cx="8180615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723" y="809898"/>
            <a:ext cx="7457037" cy="1554480"/>
          </a:xfrm>
        </p:spPr>
        <p:txBody>
          <a:bodyPr anchor="ctr">
            <a:normAutofit/>
          </a:bodyPr>
          <a:lstStyle/>
          <a:p>
            <a:r>
              <a:rPr lang="en-US" sz="4200"/>
              <a:t>Background &amp; Motivation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6485313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2">
            <a:extLst>
              <a:ext uri="{FF2B5EF4-FFF2-40B4-BE49-F238E27FC236}">
                <a16:creationId xmlns:a16="http://schemas.microsoft.com/office/drawing/2014/main" id="{D8D856E8-952E-6407-2167-BA3E2616D76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63230" y="3757003"/>
            <a:ext cx="881427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Grass minimum temperature affects </a:t>
            </a:r>
            <a:endParaRPr kumimoji="0" lang="en-US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agriculture, frost warning</a:t>
            </a: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and microclimate analysis.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Temperature near ground level changes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faster</a:t>
            </a: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than air temperature</a:t>
            </a:r>
            <a:endParaRPr kumimoji="0" lang="en-US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harder to predict.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Hong Kong shows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clear seasonality</a:t>
            </a: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making it suitable for sequence modelling.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 models (RNN/LSTM) are effective for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non-linear temporal patterns</a:t>
            </a: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7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922919"/>
            <a:ext cx="8333796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222" y="1238080"/>
            <a:ext cx="7387313" cy="1349671"/>
          </a:xfrm>
        </p:spPr>
        <p:txBody>
          <a:bodyPr anchor="b">
            <a:normAutofit/>
          </a:bodyPr>
          <a:lstStyle/>
          <a:p>
            <a:r>
              <a:rPr lang="en-US" sz="4700" dirty="0"/>
              <a:t>Project Objectives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2764431-93E2-EB5F-9843-33C58EFCC0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66788" y="2903538"/>
            <a:ext cx="7388225" cy="3032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Preprocess HKO grass minimum temperature data (1980–2025).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 data into 45-day sliding window sequences.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 three models: </a:t>
            </a:r>
            <a:r>
              <a:rPr kumimoji="0" lang="zh-HK" altLang="zh-H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RNN, LSTM, BiLSTM</a:t>
            </a: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Evaluate performance on 2025 unseen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Compare models using </a:t>
            </a:r>
            <a:r>
              <a:rPr kumimoji="0" lang="zh-HK" altLang="zh-H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MAE</a:t>
            </a: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zh-HK" altLang="zh-H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RMSE</a:t>
            </a: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Identify which architecture provides the most accurate forecast.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Publish reproducible code on GitHub.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en-US" sz="4700"/>
              <a:t>Dataset Description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06234EB-9258-A543-C1D5-7B7FD1C8C46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310803" y="2291842"/>
            <a:ext cx="4522392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Source: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Hong Kong Observatory (HKO)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range: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1980–2025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Training: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1980–2024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Testing: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Jan–Oct 2025</a:t>
            </a:r>
            <a:endParaRPr kumimoji="0" lang="en-US" altLang="zh-HK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zh-HK" sz="1800" dirty="0">
                <a:latin typeface="Arial" panose="020B0604020202020204" pitchFamily="34" charset="0"/>
              </a:rPr>
              <a:t> </a:t>
            </a: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Grass Minimum Temperature (°C)</a:t>
            </a:r>
            <a:endParaRPr kumimoji="0" lang="en-US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Characteristics: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Strong seasonality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Smooth daily transitions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Occasional sudden temperature drops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7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922919"/>
            <a:ext cx="8333796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222" y="1238080"/>
            <a:ext cx="7387313" cy="1349671"/>
          </a:xfrm>
        </p:spPr>
        <p:txBody>
          <a:bodyPr anchor="b">
            <a:normAutofit/>
          </a:bodyPr>
          <a:lstStyle/>
          <a:p>
            <a:r>
              <a:rPr lang="en-US" sz="4700"/>
              <a:t>Data Preprocessing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504651-495D-1601-2C10-2B81CBA849F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66788" y="2903538"/>
            <a:ext cx="7388225" cy="3032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Datetime conversion &amp; sorting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Handling missing values with </a:t>
            </a:r>
            <a:r>
              <a:rPr kumimoji="0" lang="zh-HK" altLang="zh-H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time-series interpolation</a:t>
            </a:r>
            <a:endParaRPr kumimoji="0" lang="zh-HK" altLang="zh-H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Normalization using </a:t>
            </a:r>
            <a:r>
              <a:rPr kumimoji="0" lang="zh-HK" altLang="zh-H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MinMaxScaler (0–1)</a:t>
            </a:r>
            <a:endParaRPr kumimoji="0" lang="zh-HK" altLang="zh-H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Sliding window: 45 days → next-day prediction</a:t>
            </a:r>
            <a:endParaRPr kumimoji="0" lang="zh-HK" altLang="zh-H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/>
              <a:t>Model Overview: RNN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 lnSpcReduction="10000"/>
          </a:bodyPr>
          <a:lstStyle/>
          <a:p>
            <a:r>
              <a:rPr lang="en-US" altLang="zh-HK" sz="2400" b="1" dirty="0"/>
              <a:t>Simple RNN Model</a:t>
            </a:r>
            <a:endParaRPr lang="en-US" altLang="zh-HK" sz="2400" dirty="0"/>
          </a:p>
          <a:p>
            <a:r>
              <a:rPr lang="en-US" altLang="zh-HK" sz="2400" dirty="0" err="1"/>
              <a:t>SimpleRNN</a:t>
            </a:r>
            <a:r>
              <a:rPr lang="en-US" altLang="zh-HK" sz="2400" dirty="0"/>
              <a:t> (100 units, </a:t>
            </a:r>
            <a:r>
              <a:rPr lang="en-US" altLang="zh-HK" sz="2400" dirty="0" err="1"/>
              <a:t>return_sequences</a:t>
            </a:r>
            <a:r>
              <a:rPr lang="en-US" altLang="zh-HK" sz="2400" dirty="0"/>
              <a:t>=True)</a:t>
            </a:r>
          </a:p>
          <a:p>
            <a:r>
              <a:rPr lang="en-US" altLang="zh-HK" sz="2400" dirty="0" err="1"/>
              <a:t>SimpleRNN</a:t>
            </a:r>
            <a:r>
              <a:rPr lang="en-US" altLang="zh-HK" sz="2400" dirty="0"/>
              <a:t> (100 units)</a:t>
            </a:r>
          </a:p>
          <a:p>
            <a:r>
              <a:rPr lang="en-US" altLang="zh-HK" sz="2400" dirty="0"/>
              <a:t>Dense (1)</a:t>
            </a:r>
          </a:p>
          <a:p>
            <a:r>
              <a:rPr lang="en-US" altLang="zh-HK" sz="2400" dirty="0"/>
              <a:t>Optimizer: Adam (0.001)</a:t>
            </a:r>
          </a:p>
          <a:p>
            <a:r>
              <a:rPr lang="en-US" altLang="zh-HK" sz="2400" dirty="0"/>
              <a:t>Loss: MSE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/>
              <a:t>Model Overview: LSTM / BiLSTM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US" altLang="zh-HK" sz="2400" b="1" dirty="0"/>
              <a:t>LSTM Architecture</a:t>
            </a:r>
            <a:endParaRPr lang="en-US" altLang="zh-HK" sz="2400" dirty="0"/>
          </a:p>
          <a:p>
            <a:r>
              <a:rPr lang="en-US" altLang="zh-HK" sz="2400" dirty="0"/>
              <a:t>LSTM (100 units, </a:t>
            </a:r>
            <a:r>
              <a:rPr lang="en-US" altLang="zh-HK" sz="2400" dirty="0" err="1"/>
              <a:t>return_sequences</a:t>
            </a:r>
            <a:r>
              <a:rPr lang="en-US" altLang="zh-HK" sz="2400" dirty="0"/>
              <a:t>=True)</a:t>
            </a:r>
          </a:p>
          <a:p>
            <a:r>
              <a:rPr lang="en-US" altLang="zh-HK" sz="2400" dirty="0"/>
              <a:t>Dropout (0.2)</a:t>
            </a:r>
          </a:p>
          <a:p>
            <a:r>
              <a:rPr lang="en-US" altLang="zh-HK" sz="2400" dirty="0"/>
              <a:t>LSTM (100 units)</a:t>
            </a:r>
          </a:p>
          <a:p>
            <a:r>
              <a:rPr lang="en-US" altLang="zh-HK" sz="2400" dirty="0"/>
              <a:t>Dropout (0.2)</a:t>
            </a:r>
          </a:p>
          <a:p>
            <a:r>
              <a:rPr lang="en-US" altLang="zh-HK" sz="2400" dirty="0"/>
              <a:t>Dense (1)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59578A-9226-426E-D647-D0AE73A7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B5B073-2599-CA58-BF3C-47A2AC6C6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3561AEDE-B9BA-C45C-55B4-F781F7290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7254AC-EBBC-ECC7-246E-D74D4D5AD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505C13-6A03-9D19-67CE-A40562123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/>
              <a:t>Model Overview: LSTM / BiLSTM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DEC8E-BF12-94A8-15F2-3C0BFCB35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US" altLang="zh-HK" sz="2400" b="1" dirty="0" err="1"/>
              <a:t>BiLSTM</a:t>
            </a:r>
            <a:r>
              <a:rPr lang="en-US" altLang="zh-HK" sz="2400" b="1" dirty="0"/>
              <a:t> Architecture</a:t>
            </a:r>
            <a:endParaRPr lang="en-US" altLang="zh-HK" sz="2400" dirty="0"/>
          </a:p>
          <a:p>
            <a:r>
              <a:rPr lang="en-US" altLang="zh-HK" sz="2400" dirty="0" err="1"/>
              <a:t>BiLSTM</a:t>
            </a:r>
            <a:r>
              <a:rPr lang="en-US" altLang="zh-HK" sz="2400" dirty="0"/>
              <a:t> (100 units, </a:t>
            </a:r>
            <a:r>
              <a:rPr lang="en-US" altLang="zh-HK" sz="2400" dirty="0" err="1"/>
              <a:t>return_sequences</a:t>
            </a:r>
            <a:r>
              <a:rPr lang="en-US" altLang="zh-HK" sz="2400" dirty="0"/>
              <a:t>=True)</a:t>
            </a:r>
          </a:p>
          <a:p>
            <a:r>
              <a:rPr lang="en-US" altLang="zh-HK" sz="2400" dirty="0"/>
              <a:t>Dropout (0.2)</a:t>
            </a:r>
          </a:p>
          <a:p>
            <a:r>
              <a:rPr lang="en-US" altLang="zh-HK" sz="2400" dirty="0" err="1"/>
              <a:t>BiLSTM</a:t>
            </a:r>
            <a:r>
              <a:rPr lang="en-US" altLang="zh-HK" sz="2400" dirty="0"/>
              <a:t> (100 units)</a:t>
            </a:r>
          </a:p>
          <a:p>
            <a:r>
              <a:rPr lang="en-US" altLang="zh-HK" sz="2400" dirty="0"/>
              <a:t>Dropout (0.2)</a:t>
            </a:r>
          </a:p>
          <a:p>
            <a:r>
              <a:rPr lang="en-US" altLang="zh-HK" sz="2400" dirty="0"/>
              <a:t>Dense (1)</a:t>
            </a:r>
          </a:p>
        </p:txBody>
      </p:sp>
    </p:spTree>
    <p:extLst>
      <p:ext uri="{BB962C8B-B14F-4D97-AF65-F5344CB8AC3E}">
        <p14:creationId xmlns:p14="http://schemas.microsoft.com/office/powerpoint/2010/main" val="3552693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en-US" sz="2700"/>
              <a:t>Training Configuration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2">
            <a:extLst>
              <a:ext uri="{FF2B5EF4-FFF2-40B4-BE49-F238E27FC236}">
                <a16:creationId xmlns:a16="http://schemas.microsoft.com/office/drawing/2014/main" id="{6DECE948-4FF6-0BF2-075D-C98ECB6B85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941763" y="2413338"/>
            <a:ext cx="4073551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Epochs: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80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Batch size: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32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Validation split: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10%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Optimizer: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Adam (0.001)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Loss: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MSE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Metric: </a:t>
            </a:r>
            <a:r>
              <a:rPr kumimoji="0" lang="zh-HK" altLang="zh-H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MAE</a:t>
            </a:r>
            <a:endParaRPr kumimoji="0" lang="zh-HK" altLang="zh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HK" altLang="zh-H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Chronological split (no data leakage)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ight Triangle 33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35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23741" y="623275"/>
            <a:ext cx="4936378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7656" y="1056640"/>
            <a:ext cx="4349961" cy="349439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7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Results Summary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B27BD89-9F46-D05B-4F4C-A8DC0702C3F5}"/>
              </a:ext>
            </a:extLst>
          </p:cNvPr>
          <p:cNvSpPr txBox="1"/>
          <p:nvPr/>
        </p:nvSpPr>
        <p:spPr>
          <a:xfrm>
            <a:off x="4087657" y="4582814"/>
            <a:ext cx="3031091" cy="13126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altLang="zh-HK" sz="2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LSTM achieved the best performance</a:t>
            </a:r>
            <a:r>
              <a:rPr lang="en-US" altLang="zh-HK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followed by BiLSTM, while RNN performed worst.</a:t>
            </a:r>
          </a:p>
        </p:txBody>
      </p:sp>
      <p:graphicFrame>
        <p:nvGraphicFramePr>
          <p:cNvPr id="22" name="表格 3">
            <a:extLst>
              <a:ext uri="{FF2B5EF4-FFF2-40B4-BE49-F238E27FC236}">
                <a16:creationId xmlns:a16="http://schemas.microsoft.com/office/drawing/2014/main" id="{E536E6F8-24F2-3FE4-98EA-48AD565AF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69521690"/>
              </p:ext>
            </p:extLst>
          </p:nvPr>
        </p:nvGraphicFramePr>
        <p:xfrm>
          <a:off x="466256" y="2577980"/>
          <a:ext cx="3024468" cy="1698472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45098"/>
                  </a:srgbClr>
                </a:solidFill>
              </a:tblPr>
              <a:tblGrid>
                <a:gridCol w="1042781">
                  <a:extLst>
                    <a:ext uri="{9D8B030D-6E8A-4147-A177-3AD203B41FA5}">
                      <a16:colId xmlns:a16="http://schemas.microsoft.com/office/drawing/2014/main" val="325202931"/>
                    </a:ext>
                  </a:extLst>
                </a:gridCol>
                <a:gridCol w="960686">
                  <a:extLst>
                    <a:ext uri="{9D8B030D-6E8A-4147-A177-3AD203B41FA5}">
                      <a16:colId xmlns:a16="http://schemas.microsoft.com/office/drawing/2014/main" val="2595807143"/>
                    </a:ext>
                  </a:extLst>
                </a:gridCol>
                <a:gridCol w="1021001">
                  <a:extLst>
                    <a:ext uri="{9D8B030D-6E8A-4147-A177-3AD203B41FA5}">
                      <a16:colId xmlns:a16="http://schemas.microsoft.com/office/drawing/2014/main" val="2858977894"/>
                    </a:ext>
                  </a:extLst>
                </a:gridCol>
              </a:tblGrid>
              <a:tr h="4487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cap="none" spc="0">
                          <a:solidFill>
                            <a:schemeClr val="bg1"/>
                          </a:solidFill>
                        </a:rPr>
                        <a:t>Model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cap="none" spc="0">
                          <a:solidFill>
                            <a:schemeClr val="bg1"/>
                          </a:solidFill>
                        </a:rPr>
                        <a:t>MAE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cap="none" spc="0">
                          <a:solidFill>
                            <a:schemeClr val="bg1"/>
                          </a:solidFill>
                        </a:rPr>
                        <a:t>RMSE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266821"/>
                  </a:ext>
                </a:extLst>
              </a:tr>
              <a:tr h="416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RNN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HK" sz="1300" cap="none" spc="0">
                          <a:solidFill>
                            <a:schemeClr val="tx1"/>
                          </a:solidFill>
                        </a:rPr>
                        <a:t>1.4411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HK" sz="1300" cap="none" spc="0">
                          <a:solidFill>
                            <a:schemeClr val="tx1"/>
                          </a:solidFill>
                        </a:rPr>
                        <a:t>1.7119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987072"/>
                  </a:ext>
                </a:extLst>
              </a:tr>
              <a:tr h="416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cap="none" spc="0">
                          <a:solidFill>
                            <a:schemeClr val="tx1"/>
                          </a:solidFill>
                        </a:rPr>
                        <a:t>LSTM</a:t>
                      </a:r>
                      <a:endParaRPr lang="en-US" sz="13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FBFBF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HK" sz="1300" b="1" cap="none" spc="0">
                          <a:solidFill>
                            <a:schemeClr val="tx1"/>
                          </a:solidFill>
                        </a:rPr>
                        <a:t>0.9216</a:t>
                      </a:r>
                      <a:endParaRPr lang="zh-HK" altLang="en-US" sz="13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FBFBF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HK" sz="1300" b="1" cap="none" spc="0">
                          <a:solidFill>
                            <a:schemeClr val="tx1"/>
                          </a:solidFill>
                        </a:rPr>
                        <a:t>1.2611</a:t>
                      </a:r>
                      <a:endParaRPr lang="zh-HK" altLang="en-US" sz="13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FBFBF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117992"/>
                  </a:ext>
                </a:extLst>
              </a:tr>
              <a:tr h="416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BiLSTM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HK" sz="1300" cap="none" spc="0">
                          <a:solidFill>
                            <a:schemeClr val="tx1"/>
                          </a:solidFill>
                        </a:rPr>
                        <a:t>0.9520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HK" sz="1300" cap="none" spc="0">
                          <a:solidFill>
                            <a:schemeClr val="tx1"/>
                          </a:solidFill>
                        </a:rPr>
                        <a:t>1.2650</a:t>
                      </a:r>
                    </a:p>
                  </a:txBody>
                  <a:tcPr marL="176924" marR="176924" marT="96504" marB="8846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31330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>
            <a:normAutofit/>
          </a:bodyPr>
          <a:lstStyle/>
          <a:p>
            <a:r>
              <a:rPr lang="en-US" sz="2800">
                <a:solidFill>
                  <a:schemeClr val="bg1"/>
                </a:solidFill>
              </a:rPr>
              <a:t>Actual vs Predicted Temperature</a:t>
            </a:r>
          </a:p>
        </p:txBody>
      </p:sp>
      <p:pic>
        <p:nvPicPr>
          <p:cNvPr id="3" name="Picture 2" descr="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2410366"/>
            <a:ext cx="8178799" cy="29239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>
            <a:normAutofit/>
          </a:bodyPr>
          <a:lstStyle/>
          <a:p>
            <a:r>
              <a:rPr lang="en-US" sz="2800">
                <a:solidFill>
                  <a:schemeClr val="bg1"/>
                </a:solidFill>
              </a:rPr>
              <a:t>Error Distribution</a:t>
            </a:r>
          </a:p>
        </p:txBody>
      </p:sp>
      <p:pic>
        <p:nvPicPr>
          <p:cNvPr id="3" name="Picture 2" descr="erro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41" y="1675227"/>
            <a:ext cx="7030716" cy="43941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216597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613954"/>
            <a:ext cx="8180615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723" y="809898"/>
            <a:ext cx="7457037" cy="1554480"/>
          </a:xfrm>
        </p:spPr>
        <p:txBody>
          <a:bodyPr anchor="ctr">
            <a:normAutofit/>
          </a:bodyPr>
          <a:lstStyle/>
          <a:p>
            <a:r>
              <a:rPr lang="en-US" sz="4200"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3771" y="3017522"/>
            <a:ext cx="7455989" cy="3124658"/>
          </a:xfrm>
        </p:spPr>
        <p:txBody>
          <a:bodyPr anchor="ctr">
            <a:normAutofit fontScale="85000" lnSpcReduction="20000"/>
          </a:bodyPr>
          <a:lstStyle/>
          <a:p>
            <a:r>
              <a:rPr lang="en-US" altLang="zh-HK" sz="2400" b="1" dirty="0"/>
              <a:t>Why LSTM performed best</a:t>
            </a:r>
            <a:endParaRPr lang="en-US" altLang="zh-HK" sz="2400" dirty="0"/>
          </a:p>
          <a:p>
            <a:r>
              <a:rPr lang="en-US" altLang="zh-HK" sz="2400" dirty="0"/>
              <a:t>Gating mechanism captures long-term seasonal patterns.</a:t>
            </a:r>
          </a:p>
          <a:p>
            <a:r>
              <a:rPr lang="en-US" altLang="zh-HK" sz="2400" dirty="0"/>
              <a:t>More stable during sudden temperature changes.</a:t>
            </a:r>
          </a:p>
          <a:p>
            <a:r>
              <a:rPr lang="en-US" altLang="zh-HK" sz="2400" b="1" dirty="0"/>
              <a:t>Why RNN underperforms</a:t>
            </a:r>
            <a:endParaRPr lang="en-US" altLang="zh-HK" sz="2400" dirty="0"/>
          </a:p>
          <a:p>
            <a:r>
              <a:rPr lang="en-US" altLang="zh-HK" sz="2400" dirty="0"/>
              <a:t>Vanishing gradients reduce its ability to learn 45-day sequences.</a:t>
            </a:r>
          </a:p>
          <a:p>
            <a:r>
              <a:rPr lang="en-US" altLang="zh-HK" sz="2400" dirty="0"/>
              <a:t>Errors increase during cold anomalies and rapid temperature drops.</a:t>
            </a:r>
          </a:p>
          <a:p>
            <a:r>
              <a:rPr lang="en-US" altLang="zh-HK" sz="2400" b="1" dirty="0" err="1"/>
              <a:t>BiLSTM</a:t>
            </a:r>
            <a:r>
              <a:rPr lang="en-US" altLang="zh-HK" sz="2400" b="1" dirty="0"/>
              <a:t> performance</a:t>
            </a:r>
            <a:endParaRPr lang="en-US" altLang="zh-HK" sz="2400" dirty="0"/>
          </a:p>
          <a:p>
            <a:r>
              <a:rPr lang="en-US" altLang="zh-HK" sz="2400" dirty="0"/>
              <a:t>Slightly improves stability.</a:t>
            </a:r>
          </a:p>
          <a:p>
            <a:r>
              <a:rPr lang="en-US" altLang="zh-HK" sz="2400" dirty="0"/>
              <a:t>But backward information does not help forecasting → no significant improvement over LSTM.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6485313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/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 fontScale="70000" lnSpcReduction="20000"/>
          </a:bodyPr>
          <a:lstStyle/>
          <a:p>
            <a:r>
              <a:rPr lang="en-US" altLang="zh-HK" sz="2400" b="1" dirty="0"/>
              <a:t>Conclusion</a:t>
            </a:r>
            <a:endParaRPr lang="en-US" altLang="zh-HK" sz="2400" dirty="0"/>
          </a:p>
          <a:p>
            <a:r>
              <a:rPr lang="en-US" altLang="zh-HK" sz="2400" b="1" dirty="0"/>
              <a:t>LSTM is the most suitable model</a:t>
            </a:r>
            <a:r>
              <a:rPr lang="en-US" altLang="zh-HK" sz="2400" dirty="0"/>
              <a:t> for forecasting Hong Kong grass minimum temperature.</a:t>
            </a:r>
          </a:p>
          <a:p>
            <a:r>
              <a:rPr lang="en-US" altLang="zh-HK" sz="2400" dirty="0"/>
              <a:t>RNN performs worst due to limited memory capacity.</a:t>
            </a:r>
          </a:p>
          <a:p>
            <a:r>
              <a:rPr lang="en-US" altLang="zh-HK" sz="2400" dirty="0" err="1"/>
              <a:t>BiLSTM</a:t>
            </a:r>
            <a:r>
              <a:rPr lang="en-US" altLang="zh-HK" sz="2400" dirty="0"/>
              <a:t> performs similarly to LSTM but provides no major advantage.</a:t>
            </a:r>
          </a:p>
          <a:p>
            <a:endParaRPr lang="en-US" altLang="zh-HK" sz="2400" dirty="0"/>
          </a:p>
          <a:p>
            <a:r>
              <a:rPr lang="en-US" altLang="zh-HK" sz="2400" b="1" dirty="0"/>
              <a:t>Future work</a:t>
            </a:r>
            <a:endParaRPr lang="en-US" altLang="zh-HK" sz="2400" dirty="0"/>
          </a:p>
          <a:p>
            <a:r>
              <a:rPr lang="en-US" altLang="zh-HK" sz="2400" dirty="0"/>
              <a:t>Use multivariate inputs (humidity, wind, cloud cover).</a:t>
            </a:r>
          </a:p>
          <a:p>
            <a:r>
              <a:rPr lang="en-US" altLang="zh-HK" sz="2400" dirty="0"/>
              <a:t>Try GRU, CNN-LSTM, or Transformer-based models.</a:t>
            </a:r>
          </a:p>
          <a:p>
            <a:r>
              <a:rPr lang="en-US" altLang="zh-HK" sz="2400" dirty="0"/>
              <a:t>Probabilistic forecasting to quantify uncertainty.</a:t>
            </a:r>
          </a:p>
          <a:p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7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922919"/>
            <a:ext cx="8333796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222" y="1238080"/>
            <a:ext cx="7387313" cy="1349671"/>
          </a:xfrm>
        </p:spPr>
        <p:txBody>
          <a:bodyPr anchor="b">
            <a:normAutofit/>
          </a:bodyPr>
          <a:lstStyle/>
          <a:p>
            <a:r>
              <a:rPr lang="en-US" sz="4700"/>
              <a:t>GitHub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2902913"/>
            <a:ext cx="7387313" cy="30321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>
                <a:hlinkClick r:id="rId2"/>
              </a:rPr>
              <a:t>https://github.com/Ahhaeyy/DIT5411-RNN-LSTM-Temperature-Forecasting</a:t>
            </a:r>
            <a:endParaRPr lang="en-US" sz="1700"/>
          </a:p>
          <a:p>
            <a:endParaRPr lang="en-US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556</Words>
  <Application>Microsoft Office PowerPoint</Application>
  <PresentationFormat>如螢幕大小 (4:3)</PresentationFormat>
  <Paragraphs>107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DIT5411 Machine Learning Project</vt:lpstr>
      <vt:lpstr>Background &amp; Motivation</vt:lpstr>
      <vt:lpstr>Project Objectives</vt:lpstr>
      <vt:lpstr>Dataset Description</vt:lpstr>
      <vt:lpstr>Data Preprocessing</vt:lpstr>
      <vt:lpstr>Model Overview: RNN</vt:lpstr>
      <vt:lpstr>Model Overview: LSTM / BiLSTM</vt:lpstr>
      <vt:lpstr>Model Overview: LSTM / BiLSTM</vt:lpstr>
      <vt:lpstr>Training Configuration</vt:lpstr>
      <vt:lpstr>Results Summary</vt:lpstr>
      <vt:lpstr>Actual vs Predicted Temperature</vt:lpstr>
      <vt:lpstr>Error Distribution</vt:lpstr>
      <vt:lpstr>Discussion</vt:lpstr>
      <vt:lpstr>Conclusion &amp; Future Work</vt:lpstr>
      <vt:lpstr>GitHub Repository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FOK Tsz Ching (220134800)</cp:lastModifiedBy>
  <cp:revision>5</cp:revision>
  <dcterms:created xsi:type="dcterms:W3CDTF">2013-01-27T09:14:16Z</dcterms:created>
  <dcterms:modified xsi:type="dcterms:W3CDTF">2025-12-05T16:28:46Z</dcterms:modified>
  <cp:category/>
</cp:coreProperties>
</file>